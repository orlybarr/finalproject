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71" r:id="rId22"/>
    <p:sldId id="272" r:id="rId23"/>
    <p:sldId id="273" r:id="rId24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B8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Arial"/>
              </a:defRPr>
            </a:pPr>
            <a:r>
              <a:t>🚌 ניטור תחבורה ציבורית — זמן אמת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0F7FA"/>
                </a:solidFill>
                <a:latin typeface="Arial"/>
              </a:defRPr>
            </a:pPr>
            <a:r>
              <a:t>פלטפורמת ניטור Big Data לתחבורה ציבורית בגוש דן ותל אביב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DD0E1"/>
                </a:solidFill>
                <a:latin typeface="Arial"/>
              </a:defRPr>
            </a:pPr>
            <a:r>
              <a:t>Real-Time Public Transit Monitoring — Big Data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114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4DD0E1"/>
                </a:solidFill>
                <a:latin typeface="Arial"/>
              </a:defRPr>
            </a:pPr>
            <a:r>
              <a:t>Kafka • Airflow • Elasticsearch • MinIO • Kibana • Flask • PWA • ngrok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rial"/>
              </a:defRPr>
            </a:pPr>
            <a:r>
              <a:t>פרויקט סיום • מאי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סקירה כללית של הפרויקט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מה המערכת עושה?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2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66666"/>
                </a:solidFill>
                <a:latin typeface="Arial"/>
              </a:defRPr>
            </a:pPr>
            <a:r>
              <a:t>פלטפורמה לניטור תחבורה ציבורית בזמן אמת — איסוף, עיבוד, אחסון והצגה של נתוני GPS מאלפי אוטובוסים ורכבות בגוש דן.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2011680"/>
            <a:ext cx="27432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2103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5146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מעקב חי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880360"/>
            <a:ext cx="2468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מיקום GPS של אלפי אוטובוסים ורכבות מתעדכן כל 2 דקות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0" y="2011680"/>
            <a:ext cx="27432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7560" y="2103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25146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ניתוח נתונים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2880360"/>
            <a:ext cx="2468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דשבורדים ב-Kibana — איחורים, עומסי תנועה, פעילות מפעילים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2011680"/>
            <a:ext cx="27432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2103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5146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תנועה בכבישים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880360"/>
            <a:ext cx="2468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מהירויות ועומסים מ-HERE Traffic API לכל הארץ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60" y="2011680"/>
            <a:ext cx="27432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720" y="2103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25146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אפליקציה ניידית + 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2880360"/>
            <a:ext cx="2468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PWA בסגנון Moovit + AI agent עם Gemini</a:t>
            </a:r>
            <a:br/>
            <a:r>
              <a:t>נגישה מרחוק דרך ngrok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ארכיטקטורה — תמונה כוללת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ארבע שכבות: מקור נתונים → ייבוא → אחסון → הצגה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3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" y="1234440"/>
            <a:ext cx="2606040" cy="475488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137160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B83"/>
                </a:solidFill>
                <a:latin typeface="Arial"/>
              </a:defRPr>
            </a:pPr>
            <a:r>
              <a:t>מקור הנתונים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" y="1691640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External APIs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11680"/>
            <a:ext cx="2057400" cy="18288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Trashut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240280"/>
            <a:ext cx="50292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74320" y="2788920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Arial"/>
              </a:defRPr>
            </a:pPr>
            <a:r>
              <a:t>Open Bus Stride</a:t>
            </a:r>
            <a:br/>
            <a:r>
              <a:t>(Hasadna)</a:t>
            </a:r>
          </a:p>
        </p:txBody>
      </p:sp>
      <p:pic>
        <p:nvPicPr>
          <p:cNvPr id="12" name="Picture 11" descr="PTrashut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347472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74320" y="4023360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Arial"/>
              </a:defRPr>
            </a:pPr>
            <a:r>
              <a:t>MOT GTFS-RT</a:t>
            </a:r>
            <a:br/>
            <a:r>
              <a:t>(משרד התחבורה)</a:t>
            </a:r>
          </a:p>
        </p:txBody>
      </p:sp>
      <p:pic>
        <p:nvPicPr>
          <p:cNvPr id="14" name="Picture 13" descr="he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4709160"/>
            <a:ext cx="502920" cy="502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4320" y="5257800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Arial"/>
              </a:defRPr>
            </a:pPr>
            <a:r>
              <a:t>HERE Traffic</a:t>
            </a:r>
            <a:br/>
            <a:r>
              <a:t>API v7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07208" y="333756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9BA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17520" y="1234440"/>
            <a:ext cx="2606040" cy="475488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42A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17520" y="137160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B83"/>
                </a:solidFill>
                <a:latin typeface="Arial"/>
              </a:defRPr>
            </a:pPr>
            <a:r>
              <a:t>שכבת ייבוא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1691640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Ingestion Layer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91840" y="2011680"/>
            <a:ext cx="2057400" cy="18288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apach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9080" y="2240280"/>
            <a:ext cx="502920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108960" y="2788920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Arial"/>
              </a:defRPr>
            </a:pPr>
            <a:r>
              <a:t>Apache Kafka</a:t>
            </a:r>
            <a:br/>
            <a:r>
              <a:t>9 Topics</a:t>
            </a:r>
          </a:p>
        </p:txBody>
      </p:sp>
      <p:pic>
        <p:nvPicPr>
          <p:cNvPr id="23" name="Picture 22" descr="apache-air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9080" y="3474720"/>
            <a:ext cx="502920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108960" y="4023360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Arial"/>
              </a:defRPr>
            </a:pPr>
            <a:r>
              <a:t>Apache Airflow</a:t>
            </a:r>
            <a:br/>
            <a:r>
              <a:t>6 DAGs</a:t>
            </a:r>
          </a:p>
        </p:txBody>
      </p:sp>
      <p:pic>
        <p:nvPicPr>
          <p:cNvPr id="25" name="Picture 24" descr="pyth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69080" y="4709160"/>
            <a:ext cx="502920" cy="502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108960" y="5257800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Arial"/>
              </a:defRPr>
            </a:pPr>
            <a:r>
              <a:t>Python Producers</a:t>
            </a:r>
            <a:br/>
            <a:r>
              <a:t>+ Cron Pipeline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41848" y="333756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9BA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52160" y="1234440"/>
            <a:ext cx="2606040" cy="4754880"/>
          </a:xfrm>
          <a:prstGeom prst="roundRect">
            <a:avLst/>
          </a:prstGeom>
          <a:solidFill>
            <a:srgbClr val="FEF3E0"/>
          </a:solidFill>
          <a:ln w="19050">
            <a:solidFill>
              <a:srgbClr val="FFA7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52160" y="137160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B83"/>
                </a:solidFill>
                <a:latin typeface="Arial"/>
              </a:defRPr>
            </a:pPr>
            <a:r>
              <a:t>שכבת אחסון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52160" y="1691640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Storage Layer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2011680"/>
            <a:ext cx="2057400" cy="18288"/>
          </a:xfrm>
          <a:prstGeom prst="rect">
            <a:avLst/>
          </a:prstGeom>
          <a:solidFill>
            <a:srgbClr val="FFA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minio-ligh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3720" y="2240280"/>
            <a:ext cx="502920" cy="50292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943600" y="2788920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Arial"/>
              </a:defRPr>
            </a:pPr>
            <a:r>
              <a:t>MinIO</a:t>
            </a:r>
            <a:br/>
            <a:r>
              <a:t>Data Lake (S3)</a:t>
            </a:r>
          </a:p>
        </p:txBody>
      </p:sp>
      <p:pic>
        <p:nvPicPr>
          <p:cNvPr id="34" name="Picture 33" descr="elasticsear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03720" y="3474720"/>
            <a:ext cx="502920" cy="50292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943600" y="4023360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Arial"/>
              </a:defRPr>
            </a:pPr>
            <a:r>
              <a:t>Elasticsearch</a:t>
            </a:r>
            <a:br/>
            <a:r>
              <a:t>Search Index</a:t>
            </a:r>
          </a:p>
        </p:txBody>
      </p:sp>
      <p:pic>
        <p:nvPicPr>
          <p:cNvPr id="36" name="Picture 35" descr="pgadmi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03720" y="4709160"/>
            <a:ext cx="502920" cy="50292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943600" y="5257800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Arial"/>
              </a:defRPr>
            </a:pPr>
            <a:r>
              <a:t>PostgreSQL</a:t>
            </a:r>
            <a:br/>
            <a:r>
              <a:t>GTFS Static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76488" y="333756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9BA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86800" y="1234440"/>
            <a:ext cx="2606040" cy="4754880"/>
          </a:xfrm>
          <a:prstGeom prst="roundRect">
            <a:avLst/>
          </a:prstGeom>
          <a:solidFill>
            <a:srgbClr val="FCE4EC"/>
          </a:solidFill>
          <a:ln w="19050">
            <a:solidFill>
              <a:srgbClr val="EC4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137160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B83"/>
                </a:solidFill>
                <a:latin typeface="Arial"/>
              </a:defRPr>
            </a:pPr>
            <a:r>
              <a:t>שכבת הצגה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1691640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Presentation Layer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61120" y="2011680"/>
            <a:ext cx="2057400" cy="18288"/>
          </a:xfrm>
          <a:prstGeom prst="rect">
            <a:avLst/>
          </a:prstGeom>
          <a:solidFill>
            <a:srgbClr val="EC4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pyth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38360" y="2240280"/>
            <a:ext cx="502920" cy="50292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778240" y="2788920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Arial"/>
              </a:defRPr>
            </a:pPr>
            <a:r>
              <a:t>Flask Bot</a:t>
            </a:r>
            <a:br/>
            <a:r>
              <a:t>port 5000 + PWA</a:t>
            </a:r>
          </a:p>
        </p:txBody>
      </p:sp>
      <p:pic>
        <p:nvPicPr>
          <p:cNvPr id="45" name="Picture 44" descr="elastic-kiban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38360" y="3474720"/>
            <a:ext cx="502920" cy="50292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8778240" y="4023360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Arial"/>
              </a:defRPr>
            </a:pPr>
            <a:r>
              <a:t>Kibana</a:t>
            </a:r>
            <a:br/>
            <a:r>
              <a:t>Dashboards</a:t>
            </a:r>
          </a:p>
        </p:txBody>
      </p:sp>
      <p:pic>
        <p:nvPicPr>
          <p:cNvPr id="47" name="Picture 46" descr="naya transi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38360" y="4709160"/>
            <a:ext cx="502920" cy="50292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778240" y="5257800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Arial"/>
              </a:defRPr>
            </a:pPr>
            <a:r>
              <a:t>Gush Dan App</a:t>
            </a:r>
            <a:br/>
            <a:r>
              <a:t>Moovit-style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מקורות הנתונים  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3 APIs ציבוריים — ללא צורך ברישום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4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3474720" cy="43891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463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B83"/>
                </a:solidFill>
                <a:latin typeface="Arial"/>
              </a:defRPr>
            </a:pPr>
            <a:r>
              <a:t>Open Bus Stride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8745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open-bus-stride-api.hasadna.org.il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333333"/>
                </a:solidFill>
                <a:latin typeface="Arial"/>
              </a:defRPr>
            </a:pPr>
            <a:r>
              <a:t>• מיקומי GPS של אוטובוסים ורכבות (SIRI)</a:t>
            </a:r>
            <a:br/>
            <a:r>
              <a:t>• מסלולי קווים מלאים (GTFS)</a:t>
            </a:r>
            <a:br/>
            <a:r>
              <a:t>• 12 מפעילים: דן, אגד, סופרבוס, רכבת ישראל...</a:t>
            </a:r>
            <a:br/>
            <a:r>
              <a:t>• נתונים היסטוריים לבאקפיל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1371600"/>
            <a:ext cx="3474720" cy="43891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0" y="1463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B83"/>
                </a:solidFill>
                <a:latin typeface="Arial"/>
              </a:defRPr>
            </a:pPr>
            <a:r>
              <a:t>MOT GTFS-RT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18745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gtfs.mot.gov.il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228600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333333"/>
                </a:solidFill>
                <a:latin typeface="Arial"/>
              </a:defRPr>
            </a:pPr>
            <a:r>
              <a:t>• TripUpdates — עיכובי נסיעות</a:t>
            </a:r>
            <a:br/>
            <a:r>
              <a:t>• ServiceAlerts — התראות שירות</a:t>
            </a:r>
            <a:br/>
            <a:r>
              <a:t>• VehiclePositions — מיקומי רכבים</a:t>
            </a:r>
            <a:br/>
            <a:r>
              <a:t>• Protocol Buffers בינארי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1371600"/>
            <a:ext cx="3474720" cy="43891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19" y="1463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B83"/>
                </a:solidFill>
                <a:latin typeface="Arial"/>
              </a:defRPr>
            </a:pPr>
            <a:r>
              <a:t>HERE Traffic v7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9" y="18745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data.traffic.hereapi.com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39" y="228600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333333"/>
                </a:solidFill>
                <a:latin typeface="Arial"/>
              </a:defRPr>
            </a:pPr>
            <a:r>
              <a:t>• מהירות בפועל ומהירות חופשית</a:t>
            </a:r>
            <a:br/>
            <a:r>
              <a:t>• Jam Factor (0-10) — מקדם עומס</a:t>
            </a:r>
            <a:br/>
            <a:r>
              <a:t>• 11 אזורי כיסוי בישראל</a:t>
            </a:r>
            <a:br/>
            <a:r>
              <a:t>• עדכון: כל 5 דקות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שכבת הייבוא  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Apache Kafka + Apache Airflow + Cron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5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07B83"/>
                </a:solidFill>
                <a:latin typeface="Arial"/>
              </a:defRPr>
            </a:pPr>
            <a:r>
              <a:t>Apache Kafka — 9 Topics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645920"/>
            <a:ext cx="5029200" cy="301752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66420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📨 bus-positions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6642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4p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66420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500/דק׳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1993392"/>
            <a:ext cx="5029200" cy="301752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011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📨 train-positions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01168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4p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01168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300/דק׳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2340864"/>
            <a:ext cx="5029200" cy="301752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235915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📨 traffic-data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2p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235915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443/דק׳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" y="2688336"/>
            <a:ext cx="5029200" cy="301752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70662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📨 trip-updates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270662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2p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270662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500/דק׳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" y="3035808"/>
            <a:ext cx="5029200" cy="301752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305409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📨 service-alerts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305409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2p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305409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133/דק׳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" y="3383280"/>
            <a:ext cx="5029200" cy="301752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340156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📨 delay-events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0" y="340156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1p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0" y="340156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אירועי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3730752"/>
            <a:ext cx="5029200" cy="301752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374904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📨 pipeline-errors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0" y="37490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1p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40480" y="3749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שגיאות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07B83"/>
                </a:solidFill>
                <a:latin typeface="Arial"/>
              </a:defRPr>
            </a:pPr>
            <a:r>
              <a:t>Apache Airflow — 6 DAGs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0" y="1645920"/>
            <a:ext cx="5486400" cy="36576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0" y="1673352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⚙️ dag_realtime_ingestion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1673352"/>
            <a:ext cx="1188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9BA4"/>
                </a:solidFill>
                <a:latin typeface="Arial"/>
              </a:defRPr>
            </a:pPr>
            <a:r>
              <a:t>כל 2 דקות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0" y="1673352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מריץ Producers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0" y="2057400"/>
            <a:ext cx="5486400" cy="36576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35040" y="2084832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⚙️ dag_etl_transform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0" y="2084832"/>
            <a:ext cx="1188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9BA4"/>
                </a:solidFill>
                <a:latin typeface="Arial"/>
              </a:defRPr>
            </a:pPr>
            <a:r>
              <a:t>כל 5 דקות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0" y="2084832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Kafka → Delay events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43600" y="2468880"/>
            <a:ext cx="5486400" cy="36576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35040" y="2496312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⚙️ dag_es_indexer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80" y="2496312"/>
            <a:ext cx="1188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9BA4"/>
                </a:solidFill>
                <a:latin typeface="Arial"/>
              </a:defRPr>
            </a:pPr>
            <a:r>
              <a:t>כל 5 דקות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01200" y="2496312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MinIO → ES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943600" y="2880360"/>
            <a:ext cx="5486400" cy="36576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35040" y="2907792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⚙️ dag_direct_traffic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12480" y="2907792"/>
            <a:ext cx="1188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9BA4"/>
                </a:solidFill>
                <a:latin typeface="Arial"/>
              </a:defRPr>
            </a:pPr>
            <a:r>
              <a:t>כל 5 דקות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2907792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HERE → MinIO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943600" y="3291840"/>
            <a:ext cx="5486400" cy="36576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035040" y="3319272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⚙️ dag_direct_alerts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12480" y="3319272"/>
            <a:ext cx="1188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9BA4"/>
                </a:solidFill>
                <a:latin typeface="Arial"/>
              </a:defRPr>
            </a:pPr>
            <a:r>
              <a:t>כל שעה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01200" y="3319272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התראות שירות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943600" y="3703320"/>
            <a:ext cx="5486400" cy="36576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35040" y="3730752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33333"/>
                </a:solidFill>
                <a:latin typeface="Arial"/>
              </a:defRPr>
            </a:pPr>
            <a:r>
              <a:t>⚙️ dag_gtfs_load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12480" y="3730752"/>
            <a:ext cx="1188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9BA4"/>
                </a:solidFill>
                <a:latin typeface="Arial"/>
              </a:defRPr>
            </a:pPr>
            <a:r>
              <a:t>פעם ביום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01200" y="3730752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Arial"/>
              </a:defRPr>
            </a:pPr>
            <a:r>
              <a:t>GTFS סטטי → PostgreSQL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74320" y="5029200"/>
            <a:ext cx="11430000" cy="109728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200" y="51206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007B83"/>
                </a:solidFill>
                <a:latin typeface="Arial"/>
              </a:defRPr>
            </a:pPr>
            <a:r>
              <a:t>🛡️ Cron Pipeline + Watchdog — גיבוי כפול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440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resilient_pipeline_run.sh (כל 5 דק׳) + watchdog.sh (כל דק׳) + wake_backfill.py (כל 15 דק׳ — זיהוי פערים אוטומטי)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שכבת האחסון  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שלוש מערכות אחסון לפי סוג השימוש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6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347472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🗄️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874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MinIO — Data Lake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4028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S3-compatible Object Store</a:t>
            </a:r>
            <a:br/>
            <a:br/>
            <a:r>
              <a:t>Bucket: israel-transit-lake</a:t>
            </a:r>
            <a:br/>
            <a:br/>
            <a:r>
              <a:t>מבנה: raw/{topic}/year=Y/month=M/day=D/hour=H</a:t>
            </a:r>
            <a:br/>
            <a:br/>
            <a:r>
              <a:t>גרסאות: raw + processed</a:t>
            </a:r>
            <a:br/>
            <a:br/>
            <a:r>
              <a:t>נתונים: ~4,600+ קבצים</a:t>
            </a:r>
            <a:br/>
            <a:br/>
            <a:r>
              <a:t>באקפיל: 156K רשומות היסטוריות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1371600"/>
            <a:ext cx="347472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1874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Elasticsearch 8.8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224028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Distributed Search Engine</a:t>
            </a:r>
            <a:br/>
            <a:br/>
            <a:r>
              <a:t>transit-bus-positions: 268K docs</a:t>
            </a:r>
            <a:br/>
            <a:r>
              <a:t>transit-train-positions: 508K docs</a:t>
            </a:r>
            <a:br/>
            <a:r>
              <a:t>transit-traffic: 67K docs</a:t>
            </a:r>
            <a:br/>
            <a:r>
              <a:t>transit-trip-updates: 51K docs</a:t>
            </a:r>
            <a:br/>
            <a:r>
              <a:t>transit-service-alerts: 17K docs</a:t>
            </a:r>
            <a:br/>
            <a:br/>
            <a:r>
              <a:t>Heap: 256-512MB (מוטבל ל-VM)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1371600"/>
            <a:ext cx="347472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39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39" y="1874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PostgreSQL 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39" y="224028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Relational Database</a:t>
            </a:r>
            <a:br/>
            <a:br/>
            <a:r>
              <a:t>Schema: gtfs</a:t>
            </a:r>
            <a:br/>
            <a:r>
              <a:t>(routes, stops, trips, stop_times)</a:t>
            </a:r>
            <a:br/>
            <a:br/>
            <a:r>
              <a:t>Schema: airflow</a:t>
            </a:r>
            <a:br/>
            <a:r>
              <a:t>(DAG runs, tasks)</a:t>
            </a:r>
            <a:br/>
            <a:br/>
            <a:r>
              <a:t>Port: 5432</a:t>
            </a:r>
            <a:br/>
            <a:br/>
            <a:r>
              <a:t>טעינת GTFS אוטומטית ב-run.sh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זרימת נתונים מקצה לקצה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מסע של רשומה אחת מה-API עד למשתמש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7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645920"/>
            <a:ext cx="1645920" cy="164592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6916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9BA4"/>
                </a:solidFill>
                <a:latin typeface="Arial"/>
              </a:defRPr>
            </a:pPr>
            <a:r>
              <a:t>1️⃣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1031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33333"/>
                </a:solidFill>
                <a:latin typeface="Arial"/>
              </a:defRPr>
            </a:pPr>
            <a:r>
              <a:t>API חיצוני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4688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Stride /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4884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9BA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40280" y="1645920"/>
            <a:ext cx="1645920" cy="164592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40280" y="16916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9BA4"/>
                </a:solidFill>
                <a:latin typeface="Arial"/>
              </a:defRPr>
            </a:pPr>
            <a:r>
              <a:t>2️⃣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21031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33333"/>
                </a:solidFill>
                <a:latin typeface="Arial"/>
              </a:defRPr>
            </a:pPr>
            <a:r>
              <a:t>Producer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24688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Python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214884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9BA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6240" y="1645920"/>
            <a:ext cx="1645920" cy="164592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0" y="16916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9BA4"/>
                </a:solidFill>
                <a:latin typeface="Arial"/>
              </a:defRPr>
            </a:pPr>
            <a:r>
              <a:t>3️⃣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21031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33333"/>
                </a:solidFill>
                <a:latin typeface="Arial"/>
              </a:defRPr>
            </a:pPr>
            <a:r>
              <a:t>Kafka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24688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Topic + Partitions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214884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9BA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199" y="1645920"/>
            <a:ext cx="1645920" cy="164592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199" y="16916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9BA4"/>
                </a:solidFill>
                <a:latin typeface="Arial"/>
              </a:defRPr>
            </a:pPr>
            <a:r>
              <a:t>4️⃣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199" y="21031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33333"/>
                </a:solidFill>
                <a:latin typeface="Arial"/>
              </a:defRPr>
            </a:pPr>
            <a:r>
              <a:t>Consumer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199" y="24688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Airflow Task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19" y="214884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9BA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1645920"/>
            <a:ext cx="1645920" cy="164592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0" y="16916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9BA4"/>
                </a:solidFill>
                <a:latin typeface="Arial"/>
              </a:defRPr>
            </a:pPr>
            <a:r>
              <a:t>5️⃣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21031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33333"/>
                </a:solidFill>
                <a:latin typeface="Arial"/>
              </a:defRPr>
            </a:pPr>
            <a:r>
              <a:t>MinIO + 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24688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Storage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214884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9BA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104120" y="1645920"/>
            <a:ext cx="1645920" cy="164592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04120" y="16916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9BA4"/>
                </a:solidFill>
                <a:latin typeface="Arial"/>
              </a:defRPr>
            </a:pPr>
            <a:r>
              <a:t>6️⃣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04120" y="21031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33333"/>
                </a:solidFill>
                <a:latin typeface="Arial"/>
              </a:defRPr>
            </a:pPr>
            <a:r>
              <a:t>Frontend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04120" y="24688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Flask / Kibana / PWA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74320" y="3840480"/>
            <a:ext cx="11430000" cy="137160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💡 דוגמה: GPS של אוטובוס דן קו 1 ביציאה מתחנה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42976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Arial"/>
              </a:defRPr>
            </a:pPr>
            <a:r>
              <a:t>Stride API → BusProducer → Kafka 'bus-positions' → Airflow consumer → MinIO (raw + processed) → Elasticsearch → Kibana / PWA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עמידות המערכת  🛡️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Store-and-Forward + השלמת פערים אוטומטית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8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28016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3716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783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מצב רגיל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14884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API → Producer → MinIO → ES</a:t>
            </a:r>
            <a:br/>
            <a:r>
              <a:t>הנתונים זורמים ישירות, אפס פערים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128016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13716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⚠️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1783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MinIO נופל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214884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API → Producer → Local Buffer</a:t>
            </a:r>
            <a:br/>
            <a:r>
              <a:t>נשמר על דיסק ב-/buffer/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128016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39" y="13716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39" y="1783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MinIO חוזר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39" y="214884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Buffer → Flush → MinIO → ES</a:t>
            </a:r>
            <a:br/>
            <a:r>
              <a:t>אוטומטי בריצת cron הבאה (5 דק׳)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" y="3474720"/>
            <a:ext cx="11430000" cy="256032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566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007B83"/>
                </a:solidFill>
                <a:latin typeface="Arial"/>
              </a:defRPr>
            </a:pPr>
            <a:r>
              <a:t>💡 חדש! השלמת פערים אוטומטית (wake_backfill.py)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977639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333333"/>
                </a:solidFill>
                <a:latin typeface="Arial"/>
              </a:defRPr>
            </a:pPr>
            <a:r>
              <a:t>בעיה: כשהלפטופ במצב שינה, ה-VM עושה pause —</a:t>
            </a:r>
            <a:br/>
            <a:r>
              <a:t>אין איסוף נתונים במשך השינה.</a:t>
            </a:r>
            <a:br/>
            <a:br/>
            <a:r>
              <a:t>פתרון: סקריפט שרץ כל 15 דקות (cron),</a:t>
            </a:r>
            <a:br/>
            <a:r>
              <a:t>סורק 24 שעות אחורה שעה-שעה,</a:t>
            </a:r>
            <a:br/>
            <a:r>
              <a:t>מזהה פערים וממלא מ-Stride API.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3977639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2E7D32"/>
                </a:solidFill>
                <a:latin typeface="Arial"/>
              </a:defRPr>
            </a:pPr>
            <a:r>
              <a:t>תוצאות בפועל:</a:t>
            </a:r>
            <a:br/>
            <a:br/>
            <a:r>
              <a:t>• 13 ימים חסרים מולאו בהרצה אחת</a:t>
            </a:r>
            <a:br/>
            <a:r>
              <a:t>• 156,000 רשומות אוטובוסים</a:t>
            </a:r>
            <a:br/>
            <a:r>
              <a:t>• 58,804 רשומות נסיעות</a:t>
            </a:r>
            <a:br/>
            <a:r>
              <a:t>• אפס איבוד נתונים!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ממשק המשתמש  🖥️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PWA ניידית + Flask Bot + Kibana + גישה מרחוק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9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" y="1280160"/>
            <a:ext cx="2834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3716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783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Gush Dan PWA (ניידית!)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148840"/>
            <a:ext cx="256032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אפליקציה בסגנון Moovit</a:t>
            </a:r>
            <a:br/>
            <a:br/>
            <a:r>
              <a:t>• מפה אינטראקטיבית (Leaflet)</a:t>
            </a:r>
            <a:br/>
            <a:r>
              <a:t>• 12 מפעילים עם קווים פעילים</a:t>
            </a:r>
            <a:br/>
            <a:r>
              <a:t>• מסלול קו עם תחנות GTFS</a:t>
            </a:r>
            <a:br/>
            <a:r>
              <a:t>• דנקל קו אדום (22 תחנות)</a:t>
            </a:r>
            <a:br/>
            <a:r>
              <a:t>• Service Worker + Cache</a:t>
            </a:r>
            <a:br/>
            <a:r>
              <a:t>• נגישה מנייד: QR → מובייל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1280160"/>
            <a:ext cx="2834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3716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783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Flask Bot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2148840"/>
            <a:ext cx="256032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bot.py — port 5000</a:t>
            </a:r>
            <a:br/>
            <a:br/>
            <a:r>
              <a:t>• /gushdan — אפליקציית PWA</a:t>
            </a:r>
            <a:br/>
            <a:r>
              <a:t>• /ask — Gemini AI agent</a:t>
            </a:r>
            <a:br/>
            <a:r>
              <a:t>• /status — סטטוס מערכת</a:t>
            </a:r>
            <a:br/>
            <a:r>
              <a:t>• /proxy/stride/* — מעקף CORS</a:t>
            </a:r>
            <a:br/>
            <a:r>
              <a:t>• /gtfs/* — שאילתות PostgreSQL</a:t>
            </a:r>
            <a:br/>
            <a:r>
              <a:t>• /api/dankal — רכבת קלה</a:t>
            </a:r>
            <a:br/>
            <a:r>
              <a:t>• 20+ endpoints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280160"/>
            <a:ext cx="2834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3716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1783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Kibana Dashboards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148840"/>
            <a:ext cx="256032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Kibana 8.8 — port 5601</a:t>
            </a:r>
            <a:br/>
            <a:br/>
            <a:r>
              <a:t>• ניטור תחבורה — זמן אמת</a:t>
            </a:r>
            <a:br/>
            <a:r>
              <a:t>• ניתוח תנועה ועיכובים</a:t>
            </a:r>
            <a:br/>
            <a:r>
              <a:t>• 70+ ויזואליזציות</a:t>
            </a:r>
            <a:br/>
            <a:r>
              <a:t>• 5 index patterns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280160"/>
            <a:ext cx="2834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72600" y="13716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1783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גישה מרחוק (ngrok)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2148840"/>
            <a:ext cx="256032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גישה מכל מקום</a:t>
            </a:r>
            <a:br/>
            <a:br/>
            <a:r>
              <a:t>• ngrok tunnel → port 5000</a:t>
            </a:r>
            <a:br/>
            <a:r>
              <a:t>• נגישה מהנייד מחוץ לבית</a:t>
            </a:r>
            <a:br/>
            <a:r>
              <a:t>• QR Code לסריקה מהירה</a:t>
            </a:r>
            <a:br/>
            <a:r>
              <a:t>• HTTPS אוטומטי</a:t>
            </a:r>
            <a:br/>
            <a:r>
              <a:t>• Auto-start ב-boot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📱 האפליקציה — סרקו והתחברו!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PWA בסגנון Moovit — נגישה מכל מכשיר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10 / 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029200" cy="4846320"/>
          </a:xfrm>
          <a:prstGeom prst="roundRect">
            <a:avLst/>
          </a:prstGeom>
          <a:solidFill>
            <a:srgbClr val="E0F7FA"/>
          </a:solidFill>
          <a:ln w="1905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7B83"/>
                </a:solidFill>
                <a:latin typeface="Arial"/>
              </a:defRPr>
            </a:pPr>
            <a:r>
              <a:t>📷 סרקו את הקוד כדי לפתוח את האפליקציה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BA4"/>
                </a:solidFill>
                <a:latin typeface="Arial"/>
              </a:defRPr>
            </a:pPr>
            <a:r>
              <a:t>🏠 רשת ביתית</a:t>
            </a:r>
          </a:p>
        </p:txBody>
      </p:sp>
      <p:pic>
        <p:nvPicPr>
          <p:cNvPr id="9" name="Picture 8" descr="transit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331720"/>
            <a:ext cx="1554480" cy="1554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393192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Arial"/>
              </a:defRPr>
            </a:pPr>
            <a:r>
              <a:t>192.168.1.110:5443/gushdan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9659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BA4"/>
                </a:solidFill>
                <a:latin typeface="Arial"/>
              </a:defRPr>
            </a:pPr>
            <a:r>
              <a:t>🌐 גישה מרחוק (ngrok)</a:t>
            </a:r>
          </a:p>
        </p:txBody>
      </p:sp>
      <p:pic>
        <p:nvPicPr>
          <p:cNvPr id="12" name="Picture 11" descr="transit_qr_publ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0440" y="2331720"/>
            <a:ext cx="1554480" cy="15544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00400" y="393192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Arial"/>
              </a:defRPr>
            </a:pPr>
            <a:r>
              <a:t>ngrok tunnel → HTTPS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3891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Arial"/>
              </a:defRPr>
            </a:pPr>
            <a:r>
              <a:t>💡 האפליקציה מותקנת כ-PWA — ניתן להוסיף</a:t>
            </a:r>
            <a:br/>
            <a:r>
              <a:t>למסך הבית כמו אפליקציה רגילה!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0" y="1371600"/>
            <a:ext cx="5760720" cy="484632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7B83"/>
                </a:solidFill>
                <a:latin typeface="Arial"/>
              </a:defRPr>
            </a:pPr>
            <a:r>
              <a:t>Gush Dan Transit — תכונות האפליקציה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196596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9BA4"/>
                </a:solidFill>
                <a:latin typeface="Arial"/>
              </a:defRPr>
            </a:pPr>
            <a:r>
              <a:t>🗺️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19659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333333"/>
                </a:solidFill>
                <a:latin typeface="Arial"/>
              </a:defRPr>
            </a:pPr>
            <a:r>
              <a:t>מפה אינטראקטיבית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2402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Arial"/>
              </a:defRPr>
            </a:pPr>
            <a:r>
              <a:t>מיקום GPS חי של אוטובוסים ורכבות בגוש דן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26060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9BA4"/>
                </a:solidFill>
                <a:latin typeface="Arial"/>
              </a:defRPr>
            </a:pPr>
            <a:r>
              <a:t>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6060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333333"/>
                </a:solidFill>
                <a:latin typeface="Arial"/>
              </a:defRPr>
            </a:pPr>
            <a:r>
              <a:t>דנקל קו אדום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8803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Arial"/>
              </a:defRPr>
            </a:pPr>
            <a:r>
              <a:t>22 תחנות הרכבת הקלה עם מעקב בזמן אמת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32461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9BA4"/>
                </a:solidFill>
                <a:latin typeface="Arial"/>
              </a:defRPr>
            </a:pPr>
            <a:r>
              <a:t>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32461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333333"/>
                </a:solidFill>
                <a:latin typeface="Arial"/>
              </a:defRPr>
            </a:pPr>
            <a:r>
              <a:t>חיפוש קווים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35204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Arial"/>
              </a:defRPr>
            </a:pPr>
            <a:r>
              <a:t>חיפוש לפי מספר קו, מפעיל או תחנה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3886199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9BA4"/>
                </a:solidFill>
                <a:latin typeface="Arial"/>
              </a:defRPr>
            </a:pPr>
            <a:r>
              <a:t>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3886199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333333"/>
                </a:solidFill>
                <a:latin typeface="Arial"/>
              </a:defRPr>
            </a:pPr>
            <a:r>
              <a:t>12 מפעילים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160519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Arial"/>
              </a:defRPr>
            </a:pPr>
            <a:r>
              <a:t>דן, אגד, סופרבוס, מטרופולין, רכבת ישראל ועוד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452628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9BA4"/>
                </a:solidFill>
                <a:latin typeface="Arial"/>
              </a:defRPr>
            </a:pPr>
            <a:r>
              <a:t>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45262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333333"/>
                </a:solidFill>
                <a:latin typeface="Arial"/>
              </a:defRPr>
            </a:pPr>
            <a:r>
              <a:t>AI Agent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48006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Arial"/>
              </a:defRPr>
            </a:pPr>
            <a:r>
              <a:t>שאלות בעברית על תחבורה — מופעל ע"י Gemini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0" y="516636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9BA4"/>
                </a:solidFill>
                <a:latin typeface="Arial"/>
              </a:defRPr>
            </a:pPr>
            <a:r>
              <a:t>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51663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333333"/>
                </a:solidFill>
                <a:latin typeface="Arial"/>
              </a:defRPr>
            </a:pPr>
            <a:r>
              <a:t>גישה מרחוק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54406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Arial"/>
              </a:defRPr>
            </a:pPr>
            <a:r>
              <a:t>נגיש מכל מקום דרך ngrok + HTTPS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📊 דשבורד — ניטור תחבורה בזמן אמת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Kibana Dashboard — Israel Transit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11 / 18</a:t>
            </a:r>
          </a:p>
        </p:txBody>
      </p:sp>
      <p:pic>
        <p:nvPicPr>
          <p:cNvPr id="6" name="Picture 5" descr="kibana_real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0"/>
            <a:ext cx="1188720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📉 דשבורד — ניתוח עיכובים ותנועה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Kibana Dashboard — Delay Analysis &amp; Traffic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12 / 18</a:t>
            </a:r>
          </a:p>
        </p:txBody>
      </p:sp>
      <p:pic>
        <p:nvPicPr>
          <p:cNvPr id="6" name="Picture 5" descr="kibana_real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0"/>
            <a:ext cx="11887200" cy="5394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594360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Arial"/>
              </a:defRPr>
            </a:pPr>
            <a:r>
              <a:t>* הדשבורד כולל ניתוח עיכובים, מהירויות ממוצעות, קווי רכבת פעילים, והתפלגות מהירות אוטובוסים — כל הנתונים בזמן אמת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המערכת בזמן אמת  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מספרים מתוך ה-VM הפועל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10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1645920" cy="10972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4630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7B83"/>
                </a:solidFill>
                <a:latin typeface="Arial"/>
              </a:defRPr>
            </a:pPr>
            <a:r>
              <a:t>268,771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9659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רשומות אוטובוס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94560" y="1371600"/>
            <a:ext cx="1645920" cy="10972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94560" y="14630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7B83"/>
                </a:solidFill>
                <a:latin typeface="Arial"/>
              </a:defRPr>
            </a:pPr>
            <a:r>
              <a:t>508,772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9659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רשומות רכבת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0" y="1371600"/>
            <a:ext cx="1645920" cy="10972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14630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7B83"/>
                </a:solidFill>
                <a:latin typeface="Arial"/>
              </a:defRPr>
            </a:pPr>
            <a:r>
              <a:t>67,423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19659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מקטעי תנועה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1371600"/>
            <a:ext cx="1645920" cy="10972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0" y="14630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7B83"/>
                </a:solidFill>
                <a:latin typeface="Arial"/>
              </a:defRPr>
            </a:pPr>
            <a:r>
              <a:t>51,874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19659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עדכוני נסיעה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80" y="1371600"/>
            <a:ext cx="1645920" cy="10972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0" y="14630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7B83"/>
                </a:solidFill>
                <a:latin typeface="Arial"/>
              </a:defRPr>
            </a:pPr>
            <a:r>
              <a:t>17,512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0" y="19659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התראות שירות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75520" y="1371600"/>
            <a:ext cx="1645920" cy="10972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0" y="14630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7B83"/>
                </a:solidFill>
                <a:latin typeface="Arial"/>
              </a:defRPr>
            </a:pPr>
            <a:r>
              <a:t>4,600+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19659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קבצים ב-MinIO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2926080"/>
            <a:ext cx="11430000" cy="137160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017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📦 נתונים שמולאו בבאקפיל (Stride API)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9BA4"/>
                </a:solidFill>
                <a:latin typeface="Arial"/>
              </a:defRPr>
            </a:pPr>
            <a:r>
              <a:t>156,000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37947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Arial"/>
              </a:defRPr>
            </a:pPr>
            <a:r>
              <a:t>אוטובוסים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9BA4"/>
                </a:solidFill>
                <a:latin typeface="Arial"/>
              </a:defRPr>
            </a:pPr>
            <a:r>
              <a:t>58,804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37947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Arial"/>
              </a:defRPr>
            </a:pPr>
            <a:r>
              <a:t>נסיעות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9BA4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37947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Arial"/>
              </a:defRPr>
            </a:pPr>
            <a:r>
              <a:t>ימים חסרים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9BA4"/>
                </a:solidFill>
                <a:latin typeface="Arial"/>
              </a:defRPr>
            </a:pPr>
            <a:r>
              <a:t>38+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0" y="37947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Arial"/>
              </a:defRPr>
            </a:pPr>
            <a:r>
              <a:t>ימים עם נתונים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47548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333333"/>
                </a:solidFill>
                <a:latin typeface="Arial"/>
              </a:defRPr>
            </a:pPr>
            <a:r>
              <a:t>🟢 קווים פעילים עכשיו (velocity &gt; 0):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" y="5120640"/>
            <a:ext cx="1645920" cy="10972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2120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8F00"/>
                </a:solidFill>
                <a:latin typeface="Arial"/>
              </a:defRPr>
            </a:pPr>
            <a:r>
              <a:t>23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7150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קווי דן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14800" y="5120640"/>
            <a:ext cx="1645920" cy="10972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0" y="52120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8F00"/>
                </a:solidFill>
                <a:latin typeface="Arial"/>
              </a:defRPr>
            </a:pPr>
            <a:r>
              <a:t>30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14800" y="57150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קווי אגד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15200" y="5120640"/>
            <a:ext cx="1645920" cy="10972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0" y="52120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8F00"/>
                </a:solidFill>
                <a:latin typeface="Arial"/>
              </a:defRPr>
            </a:pPr>
            <a:r>
              <a:t>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0" y="57150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Arial"/>
              </a:defRPr>
            </a:pPr>
            <a:r>
              <a:t>קווי סופרבוס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כל הטכנולוגיות שבשימוש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11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1280160"/>
            <a:ext cx="1828800" cy="45720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" y="1371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7B83"/>
                </a:solidFill>
                <a:latin typeface="Arial"/>
              </a:defRPr>
            </a:pPr>
            <a:r>
              <a:t>Backend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1783080"/>
            <a:ext cx="1645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Arial"/>
              </a:defRPr>
            </a:pPr>
            <a:r>
              <a:t>Python 3.12</a:t>
            </a:r>
            <a:br/>
            <a:r>
              <a:t>Flask (HTTP server)</a:t>
            </a:r>
            <a:br/>
            <a:r>
              <a:t>asyncio + threading</a:t>
            </a:r>
            <a:br/>
            <a:r>
              <a:t>boto3 (S3/MinIO)</a:t>
            </a:r>
            <a:br/>
            <a:r>
              <a:t>elasticsearch-py</a:t>
            </a:r>
            <a:br/>
            <a:r>
              <a:t>kafka-python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8840" y="1280160"/>
            <a:ext cx="1828800" cy="45720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48840" y="1371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7B83"/>
                </a:solidFill>
                <a:latin typeface="Arial"/>
              </a:defRPr>
            </a:pPr>
            <a:r>
              <a:t>Big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783080"/>
            <a:ext cx="1645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Arial"/>
              </a:defRPr>
            </a:pPr>
            <a:r>
              <a:t>Apache Kafka 7.5</a:t>
            </a:r>
            <a:br/>
            <a:r>
              <a:t>Apache Airflow 2.7</a:t>
            </a:r>
            <a:br/>
            <a:r>
              <a:t>Elasticsearch 8.8</a:t>
            </a:r>
            <a:br/>
            <a:r>
              <a:t>MinIO (S3-compatible)</a:t>
            </a:r>
            <a:br/>
            <a:r>
              <a:t>Apache Zookeeper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0520" y="1280160"/>
            <a:ext cx="1828800" cy="45720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60520" y="1371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7B83"/>
                </a:solidFill>
                <a:latin typeface="Arial"/>
              </a:defRPr>
            </a:pPr>
            <a:r>
              <a:t>Database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1783080"/>
            <a:ext cx="1645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Arial"/>
              </a:defRPr>
            </a:pPr>
            <a:r>
              <a:t>PostgreSQL 13</a:t>
            </a:r>
            <a:br/>
            <a:r>
              <a:t>psycopg2</a:t>
            </a:r>
            <a:br/>
            <a:r>
              <a:t>SQL (GTFS schema)</a:t>
            </a:r>
            <a:br/>
            <a:r>
              <a:t>Hive-style partitions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280160"/>
            <a:ext cx="1828800" cy="45720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2200" y="1371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7B83"/>
                </a:solidFill>
                <a:latin typeface="Arial"/>
              </a:defRPr>
            </a:pPr>
            <a:r>
              <a:t>Frontend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783080"/>
            <a:ext cx="1645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Arial"/>
              </a:defRPr>
            </a:pPr>
            <a:r>
              <a:t>HTML5 + JavaScript ES6+</a:t>
            </a:r>
            <a:br/>
            <a:r>
              <a:t>Leaflet (maps)</a:t>
            </a:r>
            <a:br/>
            <a:r>
              <a:t>Kibana 8.8</a:t>
            </a:r>
            <a:br/>
            <a:r>
              <a:t>Hebrew RTL UI</a:t>
            </a:r>
            <a:br/>
            <a:r>
              <a:t>PWA + Service Worker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80" y="1280160"/>
            <a:ext cx="1828800" cy="45720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83880" y="1371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7B83"/>
                </a:solidFill>
                <a:latin typeface="Arial"/>
              </a:defRPr>
            </a:pPr>
            <a:r>
              <a:t>DevOps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1783080"/>
            <a:ext cx="1645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Arial"/>
              </a:defRPr>
            </a:pPr>
            <a:r>
              <a:t>Docker + Docker Compose</a:t>
            </a:r>
            <a:br/>
            <a:r>
              <a:t>Linux VM (Hyper-V)</a:t>
            </a:r>
            <a:br/>
            <a:r>
              <a:t>Bash automation</a:t>
            </a:r>
            <a:br/>
            <a:r>
              <a:t>Cron pipelines</a:t>
            </a:r>
            <a:br/>
            <a:r>
              <a:t>ngrok tunneling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95560" y="1280160"/>
            <a:ext cx="1828800" cy="45720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95560" y="1371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7B83"/>
                </a:solidFill>
                <a:latin typeface="Arial"/>
              </a:defRPr>
            </a:pPr>
            <a:r>
              <a:t>AI &amp; APIs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1783080"/>
            <a:ext cx="1645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Arial"/>
              </a:defRPr>
            </a:pPr>
            <a:r>
              <a:t>Google Gemini API</a:t>
            </a:r>
            <a:br/>
            <a:r>
              <a:t>Stride GTFS API</a:t>
            </a:r>
            <a:br/>
            <a:r>
              <a:t>HERE Traffic v7</a:t>
            </a:r>
            <a:br/>
            <a:r>
              <a:t>Nominatim geocoding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פרוייקט הקוד  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מבנה הקוד, מודולריות ועקרונות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12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280160"/>
            <a:ext cx="4572000" cy="48463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37160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007B83"/>
                </a:solidFill>
                <a:latin typeface="Arial"/>
              </a:defRPr>
            </a:pPr>
            <a:r>
              <a:t>מבנה התיקיות: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91640"/>
            <a:ext cx="4389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onsolas"/>
              </a:defRPr>
            </a:pPr>
            <a:r>
              <a:t>finalproject/</a:t>
            </a:r>
            <a:br/>
            <a:r>
              <a:t>├─ bot.py                 # Flask server</a:t>
            </a:r>
            <a:br/>
            <a:r>
              <a:t>├─ gushdan_app.html       # PWA UI</a:t>
            </a:r>
            <a:br/>
            <a:r>
              <a:t>├─ service-worker.js      # PWA cache</a:t>
            </a:r>
            <a:br/>
            <a:r>
              <a:t>├─ producers/             # 5 Kafka producers</a:t>
            </a:r>
            <a:br/>
            <a:r>
              <a:t>├─ collectors/            # Delay collectors</a:t>
            </a:r>
            <a:br/>
            <a:r>
              <a:t>├─ etl/                   # Transformers</a:t>
            </a:r>
            <a:br/>
            <a:r>
              <a:t>├─ storage/               # MinIO + ES writers</a:t>
            </a:r>
            <a:br/>
            <a:r>
              <a:t>├─ airflow/dags/          # 6 DAGs</a:t>
            </a:r>
            <a:br/>
            <a:r>
              <a:t>├─ scripts/               # Automation</a:t>
            </a:r>
            <a:br/>
            <a:r>
              <a:t>│   ├─ wake_backfill.py   # Gap recovery</a:t>
            </a:r>
            <a:br/>
            <a:r>
              <a:t>│   └─ full_backfill.py   # Historical fill</a:t>
            </a:r>
            <a:br/>
            <a:r>
              <a:t>└─ docker-compose.yml     # 9 services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0" y="1371600"/>
            <a:ext cx="6400800" cy="6858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94960" y="14173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09BA4"/>
                </a:solidFill>
                <a:latin typeface="Arial"/>
              </a:defRPr>
            </a:pPr>
            <a:r>
              <a:t>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14173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B83"/>
                </a:solidFill>
                <a:latin typeface="Arial"/>
              </a:defRPr>
            </a:pPr>
            <a:r>
              <a:t>Resilience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17190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ניסיונות חוזרים, fallback, buffer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03520" y="2148840"/>
            <a:ext cx="6400800" cy="6858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0" y="21945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09BA4"/>
                </a:solidFill>
                <a:latin typeface="Arial"/>
              </a:defRPr>
            </a:pPr>
            <a:r>
              <a:t>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2194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B83"/>
                </a:solidFill>
                <a:latin typeface="Arial"/>
              </a:defRPr>
            </a:pPr>
            <a:r>
              <a:t>Modularity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24963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כל producer/transformer בקובץ נפרד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0" y="2926080"/>
            <a:ext cx="6400800" cy="6858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0" y="29718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09BA4"/>
                </a:solidFill>
                <a:latin typeface="Arial"/>
              </a:defRPr>
            </a:pPr>
            <a:r>
              <a:t>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2971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B83"/>
                </a:solidFill>
                <a:latin typeface="Arial"/>
              </a:defRPr>
            </a:pPr>
            <a:r>
              <a:t>Containerization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32735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כל שירות ב-Docker מבודד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03520" y="3703320"/>
            <a:ext cx="6400800" cy="6858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94960" y="37490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09BA4"/>
                </a:solidFill>
                <a:latin typeface="Arial"/>
              </a:defRPr>
            </a:pPr>
            <a:r>
              <a:t>🛡️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37490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B83"/>
                </a:solidFill>
                <a:latin typeface="Arial"/>
              </a:defRPr>
            </a:pPr>
            <a:r>
              <a:t>Store &amp; Forward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40507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buffer מקומי + flush אוטומטי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03520" y="4480560"/>
            <a:ext cx="6400800" cy="6858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94960" y="45262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09BA4"/>
                </a:solidFill>
                <a:latin typeface="Arial"/>
              </a:defRPr>
            </a:pPr>
            <a:r>
              <a:t>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60" y="45262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B83"/>
                </a:solidFill>
                <a:latin typeface="Arial"/>
              </a:defRPr>
            </a:pPr>
            <a:r>
              <a:t>Auto-Recovery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0" y="48280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wake_backfill + watchdog + cron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03520" y="5257800"/>
            <a:ext cx="6400800" cy="6858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94960" y="53035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09BA4"/>
                </a:solidFill>
                <a:latin typeface="Arial"/>
              </a:defRPr>
            </a:pPr>
            <a:r>
              <a:t>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52160" y="53035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B83"/>
                </a:solidFill>
                <a:latin typeface="Arial"/>
              </a:defRPr>
            </a:pPr>
            <a:r>
              <a:t>Observability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52160" y="56052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logs, /health, /status, watchdog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אתגרים שפתרנו  🛠️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תקלות אמיתיות שנתקלנו בהן ופתרנו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13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188720"/>
            <a:ext cx="11430000" cy="59436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9BA4"/>
                </a:solidFill>
                <a:latin typeface="Arial"/>
              </a:defRPr>
            </a:pPr>
            <a:r>
              <a:t>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21615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MOT GTFS-RT WAF block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9047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שימוש ב-Stride API של עמותת הסדנא כפרוקסי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847088"/>
            <a:ext cx="1143000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89280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9BA4"/>
                </a:solidFill>
                <a:latin typeface="Arial"/>
              </a:defRPr>
            </a:pPr>
            <a:r>
              <a:t>⚠️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8745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siri_route vs siri_routes (PLURAL!)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4884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באג נסתר: Stride מתעלם מפרמטר ביחיד ומחזיר הכל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2505456"/>
            <a:ext cx="11430000" cy="59436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551176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9BA4"/>
                </a:solidFill>
                <a:latin typeface="Arial"/>
              </a:defRPr>
            </a:pPr>
            <a:r>
              <a:t>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5328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Elasticsearch OOM ב-VM מוגבל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80720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heap הורד ל-256-512MB, restart: no — נפתח רק למצגת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" y="3163824"/>
            <a:ext cx="1143000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3209544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9BA4"/>
                </a:solidFill>
                <a:latin typeface="Arial"/>
              </a:defRPr>
            </a:pPr>
            <a:r>
              <a:t>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19125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מצב שינה — פערים בנתונים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46557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@reboot לא עובד ב-resume! תוקן ל-*/15 cron + סריקה שעה-שעה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" y="3822192"/>
            <a:ext cx="11430000" cy="59436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386791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9BA4"/>
                </a:solidFill>
                <a:latin typeface="Arial"/>
              </a:defRPr>
            </a:pPr>
            <a:r>
              <a:t>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849624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/status timeout (30+ שניות)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123944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boto3 client per-request → module-level singleton → 3 שניות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" y="4480559"/>
            <a:ext cx="1143000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4526279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9BA4"/>
                </a:solidFill>
                <a:latin typeface="Arial"/>
              </a:defRPr>
            </a:pPr>
            <a:r>
              <a:t>🗃️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507991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MinIO endpoint: localhost vs minio:9000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782311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סקריפטים על host חייבים localhost, Docker משתמש ב-minio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" y="5138928"/>
            <a:ext cx="11430000" cy="59436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518464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9BA4"/>
                </a:solidFill>
                <a:latin typeface="Arial"/>
              </a:defRPr>
            </a:pPr>
            <a:r>
              <a:t>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1663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Kafka InconsistentClusterIdException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44068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ניקוי volume דרך container זמני — בלי sudo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5797296"/>
            <a:ext cx="1143000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5843016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9BA4"/>
                </a:solidFill>
                <a:latin typeface="Arial"/>
              </a:defRPr>
            </a:pPr>
            <a:r>
              <a:t>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82472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Docker stop — permission denied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099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containers שהורצו ע״י root: פתרון docker exec kill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FFFFFF"/>
                </a:solidFill>
                <a:latin typeface="Arial"/>
              </a:defRPr>
            </a:pPr>
            <a:r>
              <a:t>המשך פיתוח  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0F7FA"/>
                </a:solidFill>
                <a:latin typeface="Arial"/>
              </a:defRPr>
            </a:pPr>
            <a:r>
              <a:t>מה אפשר להוסיף בעתיד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F7FA"/>
                </a:solidFill>
                <a:latin typeface="Arial"/>
              </a:defRPr>
            </a:pPr>
            <a:r>
              <a:t>14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3566160" cy="19202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🗺️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8745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Heat Maps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402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מפת חום של עומסי תנועה לפי שעה ויום בשבוע — זיהוי צווארי בקבוק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1371600"/>
            <a:ext cx="3566160" cy="19202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18745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Real-time Push Alerts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2402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התראות Push למשתמשים על שיבושים וביטולים בקווים שלהם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371600"/>
            <a:ext cx="3566160" cy="19202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18745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Redshift / BigQuery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22402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מחסן נתונים בענן לניתוחים ארוכי טווח ודוחות BI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" y="3657600"/>
            <a:ext cx="3566160" cy="19202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3749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41605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כיסוי ארצי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45262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הרחבה מגוש דן לכל הארץ — חיפה, ירושלים, באר שבע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06240" y="3657600"/>
            <a:ext cx="3566160" cy="19202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43400" y="3749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🎫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3400" y="41605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אינטגרציית רב-קו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45262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חיבור למערכת רב-קו לנתוני נוסעים ותפוסה בזמן אמת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657600"/>
            <a:ext cx="3566160" cy="19202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DD0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3749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BA4"/>
                </a:solidFill>
                <a:latin typeface="Arial"/>
              </a:defRPr>
            </a:pPr>
            <a:r>
              <a:t>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41605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B83"/>
                </a:solidFill>
                <a:latin typeface="Arial"/>
              </a:defRPr>
            </a:pPr>
            <a:r>
              <a:t>דוחות אוטומטיים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45262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  <a:latin typeface="Arial"/>
              </a:defRPr>
            </a:pPr>
            <a:r>
              <a:t>דוח PDF/HTML יומי עם KPIs — אחוז דיוק, קווים בעייתיים, מגמות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B8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Arial"/>
              </a:defRPr>
            </a:pPr>
            <a:r>
              <a:t>תודה רבה!  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4DD0E1"/>
                </a:solidFill>
                <a:latin typeface="Arial"/>
              </a:defRPr>
            </a:pPr>
            <a:r>
              <a:t>שאלות?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E0F7FA"/>
                </a:solidFill>
                <a:latin typeface="Arial"/>
              </a:defRPr>
            </a:pPr>
            <a:r>
              <a:t>🚌 ניטור תחבורה ציבורית בזמן אמת — גוש דן ותל אביב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4DD0E1"/>
                </a:solidFill>
                <a:latin typeface="Arial"/>
              </a:defRPr>
            </a:pPr>
            <a:r>
              <a:t>Israel Public Transit Real-Time Monitoring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669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github.com/zivversano/finalproject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